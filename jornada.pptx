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Montserrat" panose="00000500000000000000" pitchFamily="2" charset="0"/>
      <p:regular r:id="rId20"/>
    </p:embeddedFont>
    <p:embeddedFont>
      <p:font typeface="Montserrat Bold" panose="00000800000000000000" charset="0"/>
      <p:regular r:id="rId21"/>
    </p:embeddedFont>
    <p:embeddedFont>
      <p:font typeface="Montserrat Ultra-Bold" panose="020B0604020202020204" charset="0"/>
      <p:regular r:id="rId22"/>
    </p:embeddedFont>
    <p:embeddedFont>
      <p:font typeface="Now Bold" panose="020B0604020202020204" charset="0"/>
      <p:regular r:id="rId23"/>
    </p:embeddedFont>
    <p:embeddedFont>
      <p:font typeface="TT Chocolates" panose="020B0604020202020204" charset="0"/>
      <p:regular r:id="rId24"/>
    </p:embeddedFont>
    <p:embeddedFont>
      <p:font typeface="TT Chocolates Bold" panose="020B0604020202020204" charset="0"/>
      <p:regular r:id="rId25"/>
    </p:embeddedFont>
    <p:embeddedFont>
      <p:font typeface="TT Chocolates Ultra-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552" y="-3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hyperlink" Target="AGENTE%20CAPACITADOR/Elizabeth%20Castillo%20Ya&#241;ez/LISTA%20ASISTENCIA.xlsx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-5065956" y="-1570060"/>
            <a:ext cx="14817002" cy="11207042"/>
          </a:xfrm>
          <a:custGeom>
            <a:avLst/>
            <a:gdLst/>
            <a:ahLst/>
            <a:cxnLst/>
            <a:rect l="l" t="t" r="r" b="b"/>
            <a:pathLst>
              <a:path w="14817002" h="11207042">
                <a:moveTo>
                  <a:pt x="0" y="0"/>
                </a:moveTo>
                <a:lnTo>
                  <a:pt x="14817002" y="0"/>
                </a:lnTo>
                <a:lnTo>
                  <a:pt x="14817002" y="11207041"/>
                </a:lnTo>
                <a:lnTo>
                  <a:pt x="0" y="11207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2593267" y="9331729"/>
            <a:ext cx="4811235" cy="354637"/>
            <a:chOff x="0" y="0"/>
            <a:chExt cx="1267156" cy="934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7156" cy="93402"/>
            </a:xfrm>
            <a:custGeom>
              <a:avLst/>
              <a:gdLst/>
              <a:ahLst/>
              <a:cxnLst/>
              <a:rect l="l" t="t" r="r" b="b"/>
              <a:pathLst>
                <a:path w="1267156" h="93402">
                  <a:moveTo>
                    <a:pt x="633578" y="0"/>
                  </a:moveTo>
                  <a:cubicBezTo>
                    <a:pt x="283663" y="0"/>
                    <a:pt x="0" y="20909"/>
                    <a:pt x="0" y="46701"/>
                  </a:cubicBezTo>
                  <a:cubicBezTo>
                    <a:pt x="0" y="72493"/>
                    <a:pt x="283663" y="93402"/>
                    <a:pt x="633578" y="93402"/>
                  </a:cubicBezTo>
                  <a:cubicBezTo>
                    <a:pt x="983494" y="93402"/>
                    <a:pt x="1267156" y="72493"/>
                    <a:pt x="1267156" y="46701"/>
                  </a:cubicBezTo>
                  <a:cubicBezTo>
                    <a:pt x="1267156" y="20909"/>
                    <a:pt x="983494" y="0"/>
                    <a:pt x="633578" y="0"/>
                  </a:cubicBezTo>
                  <a:close/>
                </a:path>
              </a:pathLst>
            </a:custGeom>
            <a:solidFill>
              <a:srgbClr val="000000">
                <a:alpha val="22745"/>
              </a:srgbClr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8796" y="-29344"/>
              <a:ext cx="1029565" cy="113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2593267" y="777953"/>
            <a:ext cx="4412604" cy="8731095"/>
            <a:chOff x="0" y="0"/>
            <a:chExt cx="2620010" cy="5184140"/>
          </a:xfrm>
        </p:grpSpPr>
        <p:sp>
          <p:nvSpPr>
            <p:cNvPr id="7" name="Freeform 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112476" r="-112476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6369842" y="-1070402"/>
            <a:ext cx="4198204" cy="4198204"/>
          </a:xfrm>
          <a:custGeom>
            <a:avLst/>
            <a:gdLst/>
            <a:ahLst/>
            <a:cxnLst/>
            <a:rect l="l" t="t" r="r" b="b"/>
            <a:pathLst>
              <a:path w="4198204" h="4198204">
                <a:moveTo>
                  <a:pt x="0" y="0"/>
                </a:moveTo>
                <a:lnTo>
                  <a:pt x="4198204" y="0"/>
                </a:lnTo>
                <a:lnTo>
                  <a:pt x="4198204" y="4198204"/>
                </a:lnTo>
                <a:lnTo>
                  <a:pt x="0" y="4198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TextBox 17"/>
          <p:cNvSpPr txBox="1"/>
          <p:nvPr/>
        </p:nvSpPr>
        <p:spPr>
          <a:xfrm>
            <a:off x="8229889" y="2831167"/>
            <a:ext cx="9029411" cy="713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99"/>
              </a:lnSpc>
            </a:pPr>
            <a:r>
              <a:rPr lang="en-US" sz="9999" b="1" dirty="0">
                <a:solidFill>
                  <a:srgbClr val="000000"/>
                </a:solidFill>
                <a:latin typeface="TT Chocolates Ultra-Bold"/>
                <a:ea typeface="TT Chocolates Ultra-Bold"/>
                <a:cs typeface="TT Chocolates Ultra-Bold"/>
                <a:sym typeface="TT Chocolates Ultra-Bold"/>
              </a:rPr>
              <a:t>REGISTRO ELECTRÓNICO DE JORNADA LABORAL</a:t>
            </a:r>
          </a:p>
          <a:p>
            <a:pPr algn="ctr">
              <a:lnSpc>
                <a:spcPts val="12290"/>
              </a:lnSpc>
            </a:pPr>
            <a:endParaRPr lang="en-US" sz="9999" b="1" dirty="0">
              <a:solidFill>
                <a:srgbClr val="000000"/>
              </a:solidFill>
              <a:latin typeface="TT Chocolates Ultra-Bold"/>
              <a:ea typeface="TT Chocolates Ultra-Bold"/>
              <a:cs typeface="TT Chocolates Ultra-Bold"/>
              <a:sym typeface="TT Chocolates Ultra-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719619" y="1459374"/>
            <a:ext cx="8049950" cy="106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89"/>
              </a:lnSpc>
            </a:pPr>
            <a:r>
              <a:rPr lang="en-US" sz="6999" b="1">
                <a:solidFill>
                  <a:srgbClr val="1800AD"/>
                </a:solidFill>
                <a:latin typeface="Now Bold"/>
                <a:ea typeface="Now Bold"/>
                <a:cs typeface="Now Bold"/>
                <a:sym typeface="Now Bold"/>
              </a:rPr>
              <a:t>¡BIENVENIDOS!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42764" y="8499475"/>
            <a:ext cx="7926806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0"/>
              </a:lnSpc>
            </a:pPr>
            <a:r>
              <a:rPr lang="en-US" sz="5000" b="1" spc="1780">
                <a:solidFill>
                  <a:srgbClr val="05B4F7"/>
                </a:solidFill>
                <a:latin typeface="Now Bold"/>
                <a:ea typeface="Now Bold"/>
                <a:cs typeface="Now Bold"/>
                <a:sym typeface="Now Bold"/>
              </a:rPr>
              <a:t>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E534477-AEB7-30F9-BD39-875988B2F2C8}"/>
              </a:ext>
            </a:extLst>
          </p:cNvPr>
          <p:cNvSpPr/>
          <p:nvPr/>
        </p:nvSpPr>
        <p:spPr>
          <a:xfrm>
            <a:off x="7978327" y="8782431"/>
            <a:ext cx="2879296" cy="11437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i="1" dirty="0"/>
          </a:p>
        </p:txBody>
      </p:sp>
      <p:sp>
        <p:nvSpPr>
          <p:cNvPr id="2" name="Freeform 2"/>
          <p:cNvSpPr/>
          <p:nvPr/>
        </p:nvSpPr>
        <p:spPr>
          <a:xfrm rot="16200000" flipV="1">
            <a:off x="-3300470" y="2315824"/>
            <a:ext cx="11864693" cy="7233046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5400000" flipV="1">
            <a:off x="9277903" y="2716078"/>
            <a:ext cx="11864693" cy="6429226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4" name="Group 4"/>
          <p:cNvGrpSpPr/>
          <p:nvPr/>
        </p:nvGrpSpPr>
        <p:grpSpPr>
          <a:xfrm>
            <a:off x="1609901" y="2751446"/>
            <a:ext cx="5246391" cy="5246370"/>
            <a:chOff x="0" y="0"/>
            <a:chExt cx="6350000" cy="63499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78303" r="-78303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280655" y="2730195"/>
            <a:ext cx="6463006" cy="1894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0"/>
              </a:lnSpc>
            </a:pPr>
            <a:r>
              <a:rPr lang="en-US" sz="7243" spc="622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ELIZABETH CASTILLO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06194" y="4544297"/>
            <a:ext cx="4714980" cy="38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 spc="1401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FACILITADOR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79495" y="5250392"/>
            <a:ext cx="6250108" cy="1143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Contador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público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egresada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de la UAEM y con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experiencia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como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asesor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contable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fiscal y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administrativo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en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gestión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de capital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humano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18624" y="8782431"/>
            <a:ext cx="3421306" cy="94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sz="2000" b="1" spc="1139" dirty="0">
                <a:solidFill>
                  <a:schemeClr val="bg1"/>
                </a:solidFill>
                <a:latin typeface="Now Bold"/>
                <a:ea typeface="Now Bold"/>
                <a:cs typeface="Now Bold"/>
                <a:sym typeface="Now Bold"/>
                <a:hlinkClick r:id="rId4" action="ppaction://hlinkfile"/>
              </a:rPr>
              <a:t>LISTA</a:t>
            </a:r>
            <a:r>
              <a:rPr lang="en-US" sz="2000" b="1" spc="1139" dirty="0">
                <a:solidFill>
                  <a:schemeClr val="bg1"/>
                </a:solidFill>
                <a:latin typeface="Now Bold"/>
                <a:ea typeface="Now Bold"/>
                <a:cs typeface="Now Bold"/>
                <a:sym typeface="Now Bold"/>
              </a:rPr>
              <a:t> ASISTENCIA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301063" y="-1825736"/>
            <a:ext cx="17462686" cy="13208140"/>
          </a:xfrm>
          <a:custGeom>
            <a:avLst/>
            <a:gdLst/>
            <a:ahLst/>
            <a:cxnLst/>
            <a:rect l="l" t="t" r="r" b="b"/>
            <a:pathLst>
              <a:path w="17462686" h="13208140">
                <a:moveTo>
                  <a:pt x="0" y="0"/>
                </a:moveTo>
                <a:lnTo>
                  <a:pt x="17462686" y="0"/>
                </a:lnTo>
                <a:lnTo>
                  <a:pt x="17462686" y="13208141"/>
                </a:lnTo>
                <a:lnTo>
                  <a:pt x="0" y="13208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503190" y="417075"/>
            <a:ext cx="8096814" cy="8038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4"/>
              </a:lnSpc>
            </a:pPr>
            <a:r>
              <a:rPr lang="en-US" sz="4105" b="1" spc="353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¿QUÉ ESTABLECE LA REFORMA?</a:t>
            </a:r>
          </a:p>
          <a:p>
            <a:pPr algn="l">
              <a:lnSpc>
                <a:spcPts val="6404"/>
              </a:lnSpc>
            </a:pPr>
            <a:endParaRPr lang="en-US" sz="4105" b="1" spc="353">
              <a:solidFill>
                <a:srgbClr val="FFFFFF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l">
              <a:lnSpc>
                <a:spcPts val="6404"/>
              </a:lnSpc>
            </a:pPr>
            <a:r>
              <a:rPr lang="en-US" sz="4105" b="1" spc="353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CARACTERISTICAS DEL REGISTRO ELECTRÓNICO</a:t>
            </a:r>
          </a:p>
          <a:p>
            <a:pPr algn="l">
              <a:lnSpc>
                <a:spcPts val="6404"/>
              </a:lnSpc>
            </a:pPr>
            <a:endParaRPr lang="en-US" sz="4105" b="1" spc="353">
              <a:solidFill>
                <a:srgbClr val="FFFFFF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l">
              <a:lnSpc>
                <a:spcPts val="6404"/>
              </a:lnSpc>
            </a:pPr>
            <a:r>
              <a:rPr lang="en-US" sz="4105" b="1" spc="353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CONSECUENCIAS DE INCUMPLIMIENTO</a:t>
            </a:r>
          </a:p>
          <a:p>
            <a:pPr algn="l">
              <a:lnSpc>
                <a:spcPts val="6404"/>
              </a:lnSpc>
            </a:pPr>
            <a:endParaRPr lang="en-US" sz="4105" b="1" spc="353">
              <a:solidFill>
                <a:srgbClr val="FFFFFF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l">
              <a:lnSpc>
                <a:spcPts val="6404"/>
              </a:lnSpc>
            </a:pPr>
            <a:r>
              <a:rPr lang="en-US" sz="4105" b="1" spc="353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ACTIVIDADES PARA 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3279" y="621467"/>
            <a:ext cx="8296912" cy="100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30"/>
              </a:lnSpc>
            </a:pPr>
            <a:r>
              <a:rPr lang="en-US" sz="7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INTRODUCCIÓN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714302"/>
            <a:ext cx="6097271" cy="238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1"/>
              </a:lnSpc>
            </a:pPr>
            <a:r>
              <a:rPr lang="en-US" sz="3415" b="1" spc="293">
                <a:solidFill>
                  <a:srgbClr val="05B4F7"/>
                </a:solidFill>
                <a:latin typeface="Now Bold"/>
                <a:ea typeface="Now Bold"/>
                <a:cs typeface="Now Bold"/>
                <a:sym typeface="Now Bold"/>
              </a:rPr>
              <a:t>Abordaremos aspectos escenciales para patrones y trabajadores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0274" y="5378104"/>
            <a:ext cx="8296912" cy="100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30"/>
              </a:lnSpc>
            </a:pPr>
            <a:r>
              <a:rPr lang="en-US" sz="7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TEMARIO</a:t>
            </a:r>
          </a:p>
        </p:txBody>
      </p:sp>
      <p:sp>
        <p:nvSpPr>
          <p:cNvPr id="7" name="Freeform 7"/>
          <p:cNvSpPr/>
          <p:nvPr/>
        </p:nvSpPr>
        <p:spPr>
          <a:xfrm>
            <a:off x="3398538" y="1870664"/>
            <a:ext cx="7454865" cy="2888620"/>
          </a:xfrm>
          <a:custGeom>
            <a:avLst/>
            <a:gdLst/>
            <a:ahLst/>
            <a:cxnLst/>
            <a:rect l="l" t="t" r="r" b="b"/>
            <a:pathLst>
              <a:path w="7454865" h="2888620">
                <a:moveTo>
                  <a:pt x="0" y="2888620"/>
                </a:moveTo>
                <a:lnTo>
                  <a:pt x="5093181" y="2888620"/>
                </a:lnTo>
                <a:cubicBezTo>
                  <a:pt x="5153810" y="2888620"/>
                  <a:pt x="5211955" y="2864536"/>
                  <a:pt x="5254825" y="2821665"/>
                </a:cubicBezTo>
                <a:cubicBezTo>
                  <a:pt x="5297696" y="2778794"/>
                  <a:pt x="5321781" y="2720649"/>
                  <a:pt x="5321781" y="2660020"/>
                </a:cubicBezTo>
                <a:lnTo>
                  <a:pt x="5321781" y="228600"/>
                </a:lnTo>
                <a:cubicBezTo>
                  <a:pt x="5321781" y="102348"/>
                  <a:pt x="5424129" y="0"/>
                  <a:pt x="5550381" y="0"/>
                </a:cubicBezTo>
                <a:lnTo>
                  <a:pt x="7454865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>
            <a:off x="3398538" y="3672643"/>
            <a:ext cx="7454865" cy="2888620"/>
          </a:xfrm>
          <a:custGeom>
            <a:avLst/>
            <a:gdLst/>
            <a:ahLst/>
            <a:cxnLst/>
            <a:rect l="l" t="t" r="r" b="b"/>
            <a:pathLst>
              <a:path w="7454865" h="2888620">
                <a:moveTo>
                  <a:pt x="0" y="2888620"/>
                </a:moveTo>
                <a:lnTo>
                  <a:pt x="5063099" y="2888620"/>
                </a:lnTo>
                <a:cubicBezTo>
                  <a:pt x="5189351" y="2888620"/>
                  <a:pt x="5291699" y="2786272"/>
                  <a:pt x="5291699" y="2660020"/>
                </a:cubicBezTo>
                <a:lnTo>
                  <a:pt x="5291699" y="228600"/>
                </a:lnTo>
                <a:cubicBezTo>
                  <a:pt x="5291699" y="102348"/>
                  <a:pt x="5394047" y="0"/>
                  <a:pt x="5520299" y="0"/>
                </a:cubicBezTo>
                <a:lnTo>
                  <a:pt x="7454865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3398538" y="6069455"/>
            <a:ext cx="7454865" cy="2888620"/>
          </a:xfrm>
          <a:custGeom>
            <a:avLst/>
            <a:gdLst/>
            <a:ahLst/>
            <a:cxnLst/>
            <a:rect l="l" t="t" r="r" b="b"/>
            <a:pathLst>
              <a:path w="7454865" h="2888620">
                <a:moveTo>
                  <a:pt x="0" y="2888620"/>
                </a:moveTo>
                <a:lnTo>
                  <a:pt x="5093181" y="2888620"/>
                </a:lnTo>
                <a:cubicBezTo>
                  <a:pt x="5153810" y="2888620"/>
                  <a:pt x="5211955" y="2864535"/>
                  <a:pt x="5254825" y="2821664"/>
                </a:cubicBezTo>
                <a:cubicBezTo>
                  <a:pt x="5297696" y="2778794"/>
                  <a:pt x="5321781" y="2720649"/>
                  <a:pt x="5321781" y="2660020"/>
                </a:cubicBezTo>
                <a:lnTo>
                  <a:pt x="5321781" y="228600"/>
                </a:lnTo>
                <a:cubicBezTo>
                  <a:pt x="5321781" y="167971"/>
                  <a:pt x="5345865" y="109826"/>
                  <a:pt x="5388736" y="66955"/>
                </a:cubicBezTo>
                <a:cubicBezTo>
                  <a:pt x="5431607" y="24084"/>
                  <a:pt x="5489752" y="0"/>
                  <a:pt x="5550381" y="0"/>
                </a:cubicBezTo>
                <a:lnTo>
                  <a:pt x="7454865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2970879" y="7977645"/>
            <a:ext cx="7532310" cy="2948784"/>
          </a:xfrm>
          <a:custGeom>
            <a:avLst/>
            <a:gdLst/>
            <a:ahLst/>
            <a:cxnLst/>
            <a:rect l="l" t="t" r="r" b="b"/>
            <a:pathLst>
              <a:path w="7532310" h="2948784">
                <a:moveTo>
                  <a:pt x="0" y="2948784"/>
                </a:moveTo>
                <a:lnTo>
                  <a:pt x="5544411" y="2948784"/>
                </a:lnTo>
                <a:cubicBezTo>
                  <a:pt x="5670663" y="2948784"/>
                  <a:pt x="5773011" y="2846436"/>
                  <a:pt x="5773011" y="2720184"/>
                </a:cubicBezTo>
                <a:lnTo>
                  <a:pt x="5773011" y="228600"/>
                </a:lnTo>
                <a:cubicBezTo>
                  <a:pt x="5773011" y="102348"/>
                  <a:pt x="5875359" y="0"/>
                  <a:pt x="6001611" y="0"/>
                </a:cubicBezTo>
                <a:lnTo>
                  <a:pt x="7532310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01121" flipV="1">
            <a:off x="-3886095" y="380121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1946506" flipV="1">
            <a:off x="10435068" y="-3458311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464628" y="863524"/>
            <a:ext cx="11462665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9000" b="1" spc="773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OBJETIVO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14567" y="2694759"/>
            <a:ext cx="7084686" cy="721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El participante identifica el marco normativo, distingue las caracteristicas de la jornada laboral aplicable en 2027 e identifica los elementos que integran el Registro Electrónico</a:t>
            </a:r>
          </a:p>
          <a:p>
            <a:pPr algn="l">
              <a:lnSpc>
                <a:spcPts val="6300"/>
              </a:lnSpc>
            </a:pPr>
            <a:endParaRPr lang="en-US" sz="5000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01121" flipV="1">
            <a:off x="-3297144" y="3983827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224528" y="3060978"/>
            <a:ext cx="3569067" cy="7062012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245588" t="-3203" r="-245531" b="-3098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EAE5F8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7009662" y="2878644"/>
            <a:ext cx="3569067" cy="7062012"/>
            <a:chOff x="0" y="0"/>
            <a:chExt cx="2620010" cy="5184140"/>
          </a:xfrm>
        </p:grpSpPr>
        <p:sp>
          <p:nvSpPr>
            <p:cNvPr id="14" name="Freeform 1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C9C7C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615908" y="3224988"/>
            <a:ext cx="3486178" cy="6898003"/>
            <a:chOff x="0" y="0"/>
            <a:chExt cx="2620010" cy="5184140"/>
          </a:xfrm>
        </p:grpSpPr>
        <p:sp>
          <p:nvSpPr>
            <p:cNvPr id="24" name="Freeform 2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C9C7C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682507" y="2184858"/>
            <a:ext cx="3556521" cy="120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39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EXPECTATIVAS</a:t>
            </a:r>
          </a:p>
          <a:p>
            <a:pPr algn="l">
              <a:lnSpc>
                <a:spcPts val="4445"/>
              </a:lnSpc>
            </a:pPr>
            <a:endParaRPr lang="en-US" sz="3999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279744" y="1999169"/>
            <a:ext cx="2710206" cy="803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0"/>
              </a:lnSpc>
            </a:pPr>
            <a:r>
              <a:rPr lang="en-US" sz="5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REGLAS</a:t>
            </a:r>
          </a:p>
        </p:txBody>
      </p:sp>
      <p:sp>
        <p:nvSpPr>
          <p:cNvPr id="35" name="TextBox 35"/>
          <p:cNvSpPr txBox="1"/>
          <p:nvPr/>
        </p:nvSpPr>
        <p:spPr>
          <a:xfrm rot="54875">
            <a:off x="13578936" y="2030237"/>
            <a:ext cx="2710206" cy="144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3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CONTRATO DE APRENDIZAJE</a:t>
            </a:r>
          </a:p>
          <a:p>
            <a:pPr algn="l">
              <a:lnSpc>
                <a:spcPts val="3810"/>
              </a:lnSpc>
            </a:pPr>
            <a:endParaRPr lang="en-US" sz="30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1422608" y="1968530"/>
            <a:ext cx="13943080" cy="106612"/>
          </a:xfrm>
          <a:prstGeom prst="line">
            <a:avLst/>
          </a:prstGeom>
          <a:ln w="47625" cap="flat">
            <a:solidFill>
              <a:srgbClr val="310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7" name="Freeform 37"/>
          <p:cNvSpPr/>
          <p:nvPr/>
        </p:nvSpPr>
        <p:spPr>
          <a:xfrm>
            <a:off x="2820610" y="1636835"/>
            <a:ext cx="466100" cy="466100"/>
          </a:xfrm>
          <a:custGeom>
            <a:avLst/>
            <a:gdLst/>
            <a:ahLst/>
            <a:cxnLst/>
            <a:rect l="l" t="t" r="r" b="b"/>
            <a:pathLst>
              <a:path w="466100" h="466100">
                <a:moveTo>
                  <a:pt x="0" y="0"/>
                </a:moveTo>
                <a:lnTo>
                  <a:pt x="466100" y="0"/>
                </a:lnTo>
                <a:lnTo>
                  <a:pt x="466100" y="466100"/>
                </a:lnTo>
                <a:lnTo>
                  <a:pt x="0" y="466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8" name="Freeform 38"/>
          <p:cNvSpPr/>
          <p:nvPr/>
        </p:nvSpPr>
        <p:spPr>
          <a:xfrm>
            <a:off x="8258992" y="1508886"/>
            <a:ext cx="466100" cy="466100"/>
          </a:xfrm>
          <a:custGeom>
            <a:avLst/>
            <a:gdLst/>
            <a:ahLst/>
            <a:cxnLst/>
            <a:rect l="l" t="t" r="r" b="b"/>
            <a:pathLst>
              <a:path w="466100" h="466100">
                <a:moveTo>
                  <a:pt x="0" y="0"/>
                </a:moveTo>
                <a:lnTo>
                  <a:pt x="466101" y="0"/>
                </a:lnTo>
                <a:lnTo>
                  <a:pt x="466101" y="466100"/>
                </a:lnTo>
                <a:lnTo>
                  <a:pt x="0" y="466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9" name="Freeform 39"/>
          <p:cNvSpPr/>
          <p:nvPr/>
        </p:nvSpPr>
        <p:spPr>
          <a:xfrm>
            <a:off x="14662554" y="1478581"/>
            <a:ext cx="496405" cy="496405"/>
          </a:xfrm>
          <a:custGeom>
            <a:avLst/>
            <a:gdLst/>
            <a:ahLst/>
            <a:cxnLst/>
            <a:rect l="l" t="t" r="r" b="b"/>
            <a:pathLst>
              <a:path w="496405" h="496405">
                <a:moveTo>
                  <a:pt x="0" y="0"/>
                </a:moveTo>
                <a:lnTo>
                  <a:pt x="496406" y="0"/>
                </a:lnTo>
                <a:lnTo>
                  <a:pt x="496406" y="496405"/>
                </a:lnTo>
                <a:lnTo>
                  <a:pt x="0" y="496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0" name="TextBox 40"/>
          <p:cNvSpPr txBox="1"/>
          <p:nvPr/>
        </p:nvSpPr>
        <p:spPr>
          <a:xfrm>
            <a:off x="1149028" y="-55219"/>
            <a:ext cx="16230600" cy="10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spc="386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QUE ESPERAS DEL CURSO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47801" y="4214256"/>
            <a:ext cx="3077820" cy="289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0"/>
              </a:lnSpc>
              <a:spcBef>
                <a:spcPct val="0"/>
              </a:spcBef>
            </a:pPr>
            <a:r>
              <a:rPr lang="en-US" sz="5000" b="1" spc="7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¿QUÉ ESPERAS DE ESTE CURSO?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75600" y="3869244"/>
            <a:ext cx="3298985" cy="355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9"/>
              </a:lnSpc>
              <a:spcBef>
                <a:spcPct val="0"/>
              </a:spcBef>
            </a:pPr>
            <a:r>
              <a:rPr lang="en-US" sz="3999" b="1" spc="55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¿QÚE PROPONES PARA TRABAJAR EN ARMONÍA?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221830" y="4184633"/>
            <a:ext cx="3377854" cy="2928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6"/>
              </a:lnSpc>
              <a:spcBef>
                <a:spcPct val="0"/>
              </a:spcBef>
            </a:pPr>
            <a:r>
              <a:rPr lang="en-US" sz="3292" b="1" spc="4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¿ A QUÉ ME COMPROMETO PARA ALCANZAR EL OBJETIVO DE APRENDIZAJE?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855729" y="7876094"/>
            <a:ext cx="3876933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Puntuallidad, participación activa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-5312459" y="-1570060"/>
            <a:ext cx="14817002" cy="11207042"/>
          </a:xfrm>
          <a:custGeom>
            <a:avLst/>
            <a:gdLst/>
            <a:ahLst/>
            <a:cxnLst/>
            <a:rect l="l" t="t" r="r" b="b"/>
            <a:pathLst>
              <a:path w="14817002" h="11207042">
                <a:moveTo>
                  <a:pt x="0" y="0"/>
                </a:moveTo>
                <a:lnTo>
                  <a:pt x="14817002" y="0"/>
                </a:lnTo>
                <a:lnTo>
                  <a:pt x="14817002" y="11207041"/>
                </a:lnTo>
                <a:lnTo>
                  <a:pt x="0" y="11207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096042" y="603114"/>
            <a:ext cx="4589327" cy="9080773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56233" t="-47360" r="-111379" b="-37878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Freeform 13"/>
          <p:cNvSpPr/>
          <p:nvPr/>
        </p:nvSpPr>
        <p:spPr>
          <a:xfrm>
            <a:off x="6685369" y="3619875"/>
            <a:ext cx="13084230" cy="1365667"/>
          </a:xfrm>
          <a:custGeom>
            <a:avLst/>
            <a:gdLst/>
            <a:ahLst/>
            <a:cxnLst/>
            <a:rect l="l" t="t" r="r" b="b"/>
            <a:pathLst>
              <a:path w="13084230" h="1365667">
                <a:moveTo>
                  <a:pt x="0" y="0"/>
                </a:moveTo>
                <a:lnTo>
                  <a:pt x="13084230" y="0"/>
                </a:lnTo>
                <a:lnTo>
                  <a:pt x="13084230" y="1365666"/>
                </a:lnTo>
                <a:lnTo>
                  <a:pt x="0" y="1365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Freeform 14"/>
          <p:cNvSpPr/>
          <p:nvPr/>
        </p:nvSpPr>
        <p:spPr>
          <a:xfrm>
            <a:off x="9144000" y="4714904"/>
            <a:ext cx="6070259" cy="612214"/>
          </a:xfrm>
          <a:custGeom>
            <a:avLst/>
            <a:gdLst/>
            <a:ahLst/>
            <a:cxnLst/>
            <a:rect l="l" t="t" r="r" b="b"/>
            <a:pathLst>
              <a:path w="6070259" h="612214">
                <a:moveTo>
                  <a:pt x="0" y="0"/>
                </a:moveTo>
                <a:lnTo>
                  <a:pt x="6070259" y="0"/>
                </a:lnTo>
                <a:lnTo>
                  <a:pt x="6070259" y="612214"/>
                </a:lnTo>
                <a:lnTo>
                  <a:pt x="0" y="612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892" r="-1789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9691725" y="793614"/>
            <a:ext cx="7567575" cy="2826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TÉCNICA DE INTEGRACIÓN</a:t>
            </a:r>
          </a:p>
          <a:p>
            <a:pPr algn="l">
              <a:lnSpc>
                <a:spcPts val="6882"/>
              </a:lnSpc>
            </a:pPr>
            <a:endParaRPr lang="en-US" sz="80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917487" y="5617963"/>
            <a:ext cx="9341813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Cada participante completa la frase: Yo soy____Pero tambien soy_______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17460" y="7898248"/>
            <a:ext cx="9941868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•Soy Contador pero tambien soy fotografo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157946" y="-1247768"/>
            <a:ext cx="17462686" cy="13208140"/>
          </a:xfrm>
          <a:custGeom>
            <a:avLst/>
            <a:gdLst/>
            <a:ahLst/>
            <a:cxnLst/>
            <a:rect l="l" t="t" r="r" b="b"/>
            <a:pathLst>
              <a:path w="17462686" h="13208140">
                <a:moveTo>
                  <a:pt x="0" y="0"/>
                </a:moveTo>
                <a:lnTo>
                  <a:pt x="17462685" y="0"/>
                </a:lnTo>
                <a:lnTo>
                  <a:pt x="17462685" y="13208140"/>
                </a:lnTo>
                <a:lnTo>
                  <a:pt x="0" y="13208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425822" y="4474281"/>
            <a:ext cx="5980595" cy="930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8"/>
              </a:lnSpc>
            </a:pPr>
            <a:r>
              <a:rPr lang="en-US" sz="6576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EVALUACIONES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71179" y="951298"/>
            <a:ext cx="7668161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 b="1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sz="5000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DIAGNÓSTICA S/V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71179" y="2413575"/>
            <a:ext cx="5388951" cy="129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8"/>
              </a:lnSpc>
              <a:spcBef>
                <a:spcPct val="0"/>
              </a:spcBef>
            </a:pPr>
            <a:r>
              <a:rPr lang="en-US" sz="406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CONOCIMIENTOS</a:t>
            </a:r>
          </a:p>
          <a:p>
            <a:pPr algn="ctr">
              <a:lnSpc>
                <a:spcPts val="5168"/>
              </a:lnSpc>
              <a:spcBef>
                <a:spcPct val="0"/>
              </a:spcBef>
            </a:pPr>
            <a:r>
              <a:rPr lang="en-US" sz="406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(CUESTIONARIO) 25 %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09200" y="4764265"/>
            <a:ext cx="6590109" cy="64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8"/>
              </a:lnSpc>
              <a:spcBef>
                <a:spcPct val="0"/>
              </a:spcBef>
            </a:pPr>
            <a:r>
              <a:rPr lang="en-US" sz="406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GUÍA DE OBSERVACIÓN 25%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09200" y="6128259"/>
            <a:ext cx="5258246" cy="64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8"/>
              </a:lnSpc>
              <a:spcBef>
                <a:spcPct val="0"/>
              </a:spcBef>
            </a:pPr>
            <a:r>
              <a:rPr lang="en-US" sz="406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LISTA DE COTEJO 25 %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45341" y="7825628"/>
            <a:ext cx="6753969" cy="64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8"/>
              </a:lnSpc>
              <a:spcBef>
                <a:spcPct val="0"/>
              </a:spcBef>
            </a:pPr>
            <a:r>
              <a:rPr lang="en-US" sz="406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FINAL (CUESTIONARIO) 25 %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01121" flipV="1">
            <a:off x="-3886095" y="380121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1946506" flipV="1">
            <a:off x="10435068" y="-3458311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0123599" y="9318464"/>
            <a:ext cx="8220394" cy="1028700"/>
          </a:xfrm>
          <a:custGeom>
            <a:avLst/>
            <a:gdLst/>
            <a:ahLst/>
            <a:cxnLst/>
            <a:rect l="l" t="t" r="r" b="b"/>
            <a:pathLst>
              <a:path w="8220394" h="1028700">
                <a:moveTo>
                  <a:pt x="0" y="0"/>
                </a:moveTo>
                <a:lnTo>
                  <a:pt x="8220394" y="0"/>
                </a:lnTo>
                <a:lnTo>
                  <a:pt x="822039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616" r="-761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584956" y="387804"/>
            <a:ext cx="8091617" cy="162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9"/>
              </a:lnSpc>
            </a:pPr>
            <a:r>
              <a:rPr lang="en-US" sz="6353" b="1" spc="54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EVALUACIÓN DIAGNÓSTICA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22680" y="2108362"/>
            <a:ext cx="7084686" cy="881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Permite la identificación de conocimientos previos, para determinar el punto de partida.</a:t>
            </a:r>
          </a:p>
          <a:p>
            <a:pPr algn="l">
              <a:lnSpc>
                <a:spcPts val="6300"/>
              </a:lnSpc>
            </a:pPr>
            <a:endParaRPr lang="en-US" sz="5000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ctr">
              <a:lnSpc>
                <a:spcPts val="6300"/>
              </a:lnSpc>
            </a:pPr>
            <a:r>
              <a:rPr lang="en-US" sz="5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¿Qué es lo que sé del registro electrónico de la jornada laboral para 2027?</a:t>
            </a:r>
          </a:p>
          <a:p>
            <a:pPr algn="l">
              <a:lnSpc>
                <a:spcPts val="6300"/>
              </a:lnSpc>
            </a:pPr>
            <a:endParaRPr lang="en-US" sz="50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l">
              <a:lnSpc>
                <a:spcPts val="6300"/>
              </a:lnSpc>
            </a:pPr>
            <a:endParaRPr lang="en-US" sz="50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01121" flipV="1">
            <a:off x="-3886095" y="380121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1946506" flipV="1">
            <a:off x="10435068" y="-3458311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3412668" y="4653861"/>
            <a:ext cx="11462665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9000" spc="773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INICIAMOS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95592" flipV="1">
            <a:off x="-4903647" y="-5656806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4" y="8974022"/>
                </a:lnTo>
                <a:lnTo>
                  <a:pt x="11864694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7548015"/>
            <a:ext cx="3276910" cy="175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8"/>
              </a:lnSpc>
            </a:pPr>
            <a:r>
              <a:rPr lang="en-US" sz="3537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¿</a:t>
            </a:r>
            <a:r>
              <a:rPr lang="en-US" sz="3537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Por qué es importante para 2027?</a:t>
            </a:r>
          </a:p>
          <a:p>
            <a:pPr algn="ctr">
              <a:lnSpc>
                <a:spcPts val="2886"/>
              </a:lnSpc>
            </a:pPr>
            <a:endParaRPr lang="en-US" sz="3537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4" name="Freeform 4"/>
          <p:cNvSpPr/>
          <p:nvPr/>
        </p:nvSpPr>
        <p:spPr>
          <a:xfrm rot="6686390" flipV="1">
            <a:off x="10632895" y="348235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AutoShape 5"/>
          <p:cNvSpPr/>
          <p:nvPr/>
        </p:nvSpPr>
        <p:spPr>
          <a:xfrm>
            <a:off x="1526516" y="2546737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6" name="AutoShape 6"/>
          <p:cNvSpPr/>
          <p:nvPr/>
        </p:nvSpPr>
        <p:spPr>
          <a:xfrm>
            <a:off x="1526516" y="6923127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7" name="AutoShape 7"/>
          <p:cNvSpPr/>
          <p:nvPr/>
        </p:nvSpPr>
        <p:spPr>
          <a:xfrm>
            <a:off x="1526516" y="9526204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Box 8"/>
          <p:cNvSpPr txBox="1"/>
          <p:nvPr/>
        </p:nvSpPr>
        <p:spPr>
          <a:xfrm>
            <a:off x="333620" y="3160148"/>
            <a:ext cx="12766264" cy="329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666" lvl="1" indent="-240333" algn="l">
              <a:lnSpc>
                <a:spcPts val="3317"/>
              </a:lnSpc>
              <a:buFont typeface="Arial"/>
              <a:buChar char="•"/>
            </a:pPr>
            <a:r>
              <a:rPr lang="en-US" sz="22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 Patrones deberán registrar electrónicamente la jornada laboral de cada trabajador.</a:t>
            </a:r>
          </a:p>
          <a:p>
            <a:pPr algn="l">
              <a:lnSpc>
                <a:spcPts val="3317"/>
              </a:lnSpc>
            </a:pPr>
            <a:endParaRPr lang="en-US" sz="2226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80666" lvl="1" indent="-240333" algn="l">
              <a:lnSpc>
                <a:spcPts val="3317"/>
              </a:lnSpc>
              <a:buFont typeface="Arial"/>
              <a:buChar char="•"/>
            </a:pPr>
            <a:r>
              <a:rPr lang="en-US" sz="22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Registro debe incluir hora de inicio y hora de conclusión de la jornada y guardar cambios y modificaciones</a:t>
            </a:r>
          </a:p>
          <a:p>
            <a:pPr algn="l">
              <a:lnSpc>
                <a:spcPts val="3317"/>
              </a:lnSpc>
            </a:pPr>
            <a:endParaRPr lang="en-US" sz="2226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80666" lvl="1" indent="-240333" algn="l">
              <a:lnSpc>
                <a:spcPts val="3317"/>
              </a:lnSpc>
              <a:buFont typeface="Arial"/>
              <a:buChar char="•"/>
            </a:pPr>
            <a:r>
              <a:rPr lang="en-US" sz="22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Deberá estar disponible de manera electrónica cuando la autoridad lo requiera</a:t>
            </a:r>
          </a:p>
          <a:p>
            <a:pPr algn="l">
              <a:lnSpc>
                <a:spcPts val="3317"/>
              </a:lnSpc>
            </a:pPr>
            <a:endParaRPr lang="en-US" sz="2226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003629" y="7571382"/>
            <a:ext cx="9373651" cy="230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9643" lvl="1" indent="-224822" algn="l">
              <a:lnSpc>
                <a:spcPts val="3103"/>
              </a:lnSpc>
              <a:buFont typeface="Arial"/>
              <a:buChar char="•"/>
            </a:pPr>
            <a:r>
              <a:rPr lang="en-US" sz="20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01 de enero 2027 adquiere relevancia juridica, no solo administrativa.</a:t>
            </a:r>
          </a:p>
          <a:p>
            <a:pPr algn="l">
              <a:lnSpc>
                <a:spcPts val="3103"/>
              </a:lnSpc>
            </a:pPr>
            <a:endParaRPr lang="en-US" sz="2082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9643" lvl="1" indent="-224822" algn="l">
              <a:lnSpc>
                <a:spcPts val="3103"/>
              </a:lnSpc>
              <a:buFont typeface="Arial"/>
              <a:buChar char="•"/>
            </a:pPr>
            <a:r>
              <a:rPr lang="en-US" sz="20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2026 debe utilizarse como periodo de Preparación y Ajuste de Procesos.</a:t>
            </a:r>
          </a:p>
          <a:p>
            <a:pPr algn="l">
              <a:lnSpc>
                <a:spcPts val="3103"/>
              </a:lnSpc>
            </a:pPr>
            <a:endParaRPr lang="en-US" sz="2082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44606" y="649064"/>
            <a:ext cx="16230600" cy="219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¿QUE ESTABLECE LA REFORMA LABORAL?</a:t>
            </a:r>
          </a:p>
          <a:p>
            <a:pPr algn="ctr">
              <a:lnSpc>
                <a:spcPts val="9135"/>
              </a:lnSpc>
            </a:pPr>
            <a:endParaRPr lang="en-US" sz="4500" b="1" spc="386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3226870" y="1926366"/>
            <a:ext cx="3748335" cy="7416725"/>
            <a:chOff x="0" y="0"/>
            <a:chExt cx="2620010" cy="5184140"/>
          </a:xfrm>
        </p:grpSpPr>
        <p:sp>
          <p:nvSpPr>
            <p:cNvPr id="12" name="Freeform 12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94468" r="-94468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678916" y="9678604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95592" flipV="1">
            <a:off x="-4682955" y="-5686888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526516" y="2994185"/>
            <a:ext cx="2657248" cy="32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70691" y="5368076"/>
            <a:ext cx="2657248" cy="32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26516" y="7365812"/>
            <a:ext cx="2657248" cy="32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48485" y="3046195"/>
            <a:ext cx="2779094" cy="1235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lang="en-US" sz="24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REDUCCIÓN PROGRESIVA DE LA JORNADA</a:t>
            </a:r>
          </a:p>
          <a:p>
            <a:pPr algn="ctr">
              <a:lnSpc>
                <a:spcPts val="2448"/>
              </a:lnSpc>
            </a:pPr>
            <a:endParaRPr lang="en-US" sz="24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59545" y="5105774"/>
            <a:ext cx="4614098" cy="931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PODER REGISTRAR INICIO Y CONCLUSIÓN DE LA JORNADA</a:t>
            </a:r>
          </a:p>
          <a:p>
            <a:pPr algn="ctr">
              <a:lnSpc>
                <a:spcPts val="2448"/>
              </a:lnSpc>
            </a:pPr>
            <a:endParaRPr lang="en-US" sz="24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638391" y="7366040"/>
            <a:ext cx="2779094" cy="931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TRAZABLE Y CONSISTENTE</a:t>
            </a:r>
          </a:p>
          <a:p>
            <a:pPr algn="l">
              <a:lnSpc>
                <a:spcPts val="2448"/>
              </a:lnSpc>
            </a:pPr>
            <a:endParaRPr lang="en-US" sz="24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9" name="Freeform 9"/>
          <p:cNvSpPr/>
          <p:nvPr/>
        </p:nvSpPr>
        <p:spPr>
          <a:xfrm rot="6686390" flipV="1">
            <a:off x="10632895" y="348235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AutoShape 10"/>
          <p:cNvSpPr/>
          <p:nvPr/>
        </p:nvSpPr>
        <p:spPr>
          <a:xfrm>
            <a:off x="1526516" y="2546737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1" name="AutoShape 11"/>
          <p:cNvSpPr/>
          <p:nvPr/>
        </p:nvSpPr>
        <p:spPr>
          <a:xfrm>
            <a:off x="1526516" y="4363353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2" name="AutoShape 12"/>
          <p:cNvSpPr/>
          <p:nvPr/>
        </p:nvSpPr>
        <p:spPr>
          <a:xfrm>
            <a:off x="1526516" y="6923127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>
            <a:off x="1526516" y="9526204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Box 14"/>
          <p:cNvSpPr txBox="1"/>
          <p:nvPr/>
        </p:nvSpPr>
        <p:spPr>
          <a:xfrm>
            <a:off x="6151703" y="2503875"/>
            <a:ext cx="5060940" cy="2202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2026 - 48 HRS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2027 - 46 HRS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2028 - 44 HRS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2029 - 42 HRS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2030 - 40 HRS</a:t>
            </a:r>
          </a:p>
          <a:p>
            <a:pPr algn="l">
              <a:lnSpc>
                <a:spcPts val="2980"/>
              </a:lnSpc>
            </a:pPr>
            <a:endParaRPr lang="en-US" sz="2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151703" y="7058827"/>
            <a:ext cx="5060940" cy="145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•Con la Nomina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•Asistencia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•Horas Extraordinarias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•Contratos laborales, Politicas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66750"/>
            <a:ext cx="16230600" cy="219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spc="386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CARACTERISTICAS DEL REGISTRO ELECTRÓNICO</a:t>
            </a:r>
          </a:p>
          <a:p>
            <a:pPr algn="ctr">
              <a:lnSpc>
                <a:spcPts val="9135"/>
              </a:lnSpc>
            </a:pPr>
            <a:endParaRPr lang="en-US" sz="4500" spc="386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2083753" y="2167023"/>
            <a:ext cx="3748335" cy="7416725"/>
            <a:chOff x="0" y="0"/>
            <a:chExt cx="2620010" cy="5184140"/>
          </a:xfrm>
        </p:grpSpPr>
        <p:sp>
          <p:nvSpPr>
            <p:cNvPr id="18" name="Freeform 1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94468" r="-94468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815211" y="5247788"/>
            <a:ext cx="4176266" cy="34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DEBE SERVIR COMO EVIDENCIA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9808" y="9607167"/>
            <a:ext cx="7775525" cy="63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500" b="1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CUESTIONARIO CONOCIMIENTOS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77389" flipV="1">
            <a:off x="-4715913" y="-2046407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6686390" flipV="1">
            <a:off x="10632895" y="348235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4" name="Group 4"/>
          <p:cNvGrpSpPr/>
          <p:nvPr/>
        </p:nvGrpSpPr>
        <p:grpSpPr>
          <a:xfrm>
            <a:off x="1298002" y="2681838"/>
            <a:ext cx="14815463" cy="6007587"/>
            <a:chOff x="0" y="0"/>
            <a:chExt cx="3902015" cy="15822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02015" cy="1582245"/>
            </a:xfrm>
            <a:custGeom>
              <a:avLst/>
              <a:gdLst/>
              <a:ahLst/>
              <a:cxnLst/>
              <a:rect l="l" t="t" r="r" b="b"/>
              <a:pathLst>
                <a:path w="3902015" h="1582245">
                  <a:moveTo>
                    <a:pt x="0" y="0"/>
                  </a:moveTo>
                  <a:lnTo>
                    <a:pt x="3902015" y="0"/>
                  </a:lnTo>
                  <a:lnTo>
                    <a:pt x="3902015" y="1582245"/>
                  </a:lnTo>
                  <a:lnTo>
                    <a:pt x="0" y="1582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902015" cy="1601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8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768531" y="3338286"/>
            <a:ext cx="622162" cy="622162"/>
          </a:xfrm>
          <a:custGeom>
            <a:avLst/>
            <a:gdLst/>
            <a:ahLst/>
            <a:cxnLst/>
            <a:rect l="l" t="t" r="r" b="b"/>
            <a:pathLst>
              <a:path w="622162" h="622162">
                <a:moveTo>
                  <a:pt x="0" y="0"/>
                </a:moveTo>
                <a:lnTo>
                  <a:pt x="622162" y="0"/>
                </a:lnTo>
                <a:lnTo>
                  <a:pt x="622162" y="622162"/>
                </a:lnTo>
                <a:lnTo>
                  <a:pt x="0" y="6221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AutoShape 8"/>
          <p:cNvSpPr/>
          <p:nvPr/>
        </p:nvSpPr>
        <p:spPr>
          <a:xfrm rot="5400442">
            <a:off x="6927736" y="5530740"/>
            <a:ext cx="4432527" cy="0"/>
          </a:xfrm>
          <a:prstGeom prst="line">
            <a:avLst/>
          </a:prstGeom>
          <a:ln w="47625" cap="flat">
            <a:solidFill>
              <a:srgbClr val="EEED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2061249" y="3202917"/>
            <a:ext cx="892900" cy="892900"/>
          </a:xfrm>
          <a:custGeom>
            <a:avLst/>
            <a:gdLst/>
            <a:ahLst/>
            <a:cxnLst/>
            <a:rect l="l" t="t" r="r" b="b"/>
            <a:pathLst>
              <a:path w="892900" h="892900">
                <a:moveTo>
                  <a:pt x="0" y="0"/>
                </a:moveTo>
                <a:lnTo>
                  <a:pt x="892901" y="0"/>
                </a:lnTo>
                <a:lnTo>
                  <a:pt x="892901" y="892900"/>
                </a:lnTo>
                <a:lnTo>
                  <a:pt x="0" y="892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4438812" y="9401175"/>
            <a:ext cx="6047131" cy="483954"/>
          </a:xfrm>
          <a:custGeom>
            <a:avLst/>
            <a:gdLst/>
            <a:ahLst/>
            <a:cxnLst/>
            <a:rect l="l" t="t" r="r" b="b"/>
            <a:pathLst>
              <a:path w="6047131" h="483954">
                <a:moveTo>
                  <a:pt x="0" y="0"/>
                </a:moveTo>
                <a:lnTo>
                  <a:pt x="6047131" y="0"/>
                </a:lnTo>
                <a:lnTo>
                  <a:pt x="6047131" y="483954"/>
                </a:lnTo>
                <a:lnTo>
                  <a:pt x="0" y="483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2431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1"/>
          <p:cNvSpPr txBox="1"/>
          <p:nvPr/>
        </p:nvSpPr>
        <p:spPr>
          <a:xfrm>
            <a:off x="2061249" y="4282427"/>
            <a:ext cx="6690340" cy="523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7035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El art- 994 LFT Contempla multas de 250 a 5000 UMAS, por el incumplimiento de la obligación del art. 132 F. XXX1V</a:t>
            </a:r>
          </a:p>
          <a:p>
            <a:pPr algn="just">
              <a:lnSpc>
                <a:spcPts val="7035"/>
              </a:lnSpc>
            </a:pPr>
            <a:endParaRPr lang="en-US" sz="35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18941" y="3229555"/>
            <a:ext cx="5779859" cy="589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7035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El riesgo no se limita a la multa, sino a las contingencias derivadas de información laboral que no coincida entre areas.</a:t>
            </a:r>
          </a:p>
          <a:p>
            <a:pPr algn="l">
              <a:lnSpc>
                <a:spcPts val="4823"/>
              </a:lnSpc>
            </a:pPr>
            <a:endParaRPr lang="en-US" sz="35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224689" y="726914"/>
            <a:ext cx="16230600" cy="219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CONSECUENCIAS DE INCUMPLIMIENTO</a:t>
            </a:r>
          </a:p>
          <a:p>
            <a:pPr algn="ctr">
              <a:lnSpc>
                <a:spcPts val="9135"/>
              </a:lnSpc>
            </a:pPr>
            <a:endParaRPr lang="en-US" sz="4500" b="1" spc="386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01121" flipV="1">
            <a:off x="-3886095" y="380121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1946506" flipV="1">
            <a:off x="11684983" y="-3458311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4" name="Group 4"/>
          <p:cNvGrpSpPr/>
          <p:nvPr/>
        </p:nvGrpSpPr>
        <p:grpSpPr>
          <a:xfrm>
            <a:off x="1609901" y="2751446"/>
            <a:ext cx="5246391" cy="5246370"/>
            <a:chOff x="0" y="0"/>
            <a:chExt cx="6350000" cy="63499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t="-1634" b="-1634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289317" y="406992"/>
            <a:ext cx="7545960" cy="1860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0"/>
              </a:lnSpc>
            </a:pPr>
            <a:r>
              <a:rPr lang="en-US" sz="7243" b="1" spc="622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TÉCNICA ENERGIZANTE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41426" y="5114925"/>
            <a:ext cx="10363628" cy="5330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4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Consiste en identificar las horas del reloj con las manos al ritmo de la música, cuando diga las 3 los dos brazos se mueven a la derecha, cuando diga las 6 los brazos se mueven para abajo cuando diga las 9 los dos brazos a la izquierda y cuando diga las 12 los dos brazos se mueven hacia arriba.</a:t>
            </a:r>
          </a:p>
          <a:p>
            <a:pPr algn="l">
              <a:lnSpc>
                <a:spcPts val="5292"/>
              </a:lnSpc>
            </a:pPr>
            <a:endParaRPr lang="en-US" sz="4200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541426" y="2529677"/>
            <a:ext cx="5852368" cy="188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99"/>
              </a:lnSpc>
              <a:spcBef>
                <a:spcPct val="0"/>
              </a:spcBef>
            </a:pPr>
            <a:r>
              <a:rPr lang="en-US" sz="9999" b="1" spc="139">
                <a:solidFill>
                  <a:srgbClr val="3101FF"/>
                </a:solidFill>
                <a:latin typeface="Now Bold"/>
                <a:ea typeface="Now Bold"/>
                <a:cs typeface="Now Bold"/>
                <a:sym typeface="Now Bold"/>
              </a:rPr>
              <a:t>EL RELOJ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03780" y="4329903"/>
            <a:ext cx="109939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9"/>
              </a:lnSpc>
              <a:spcBef>
                <a:spcPct val="0"/>
              </a:spcBef>
            </a:pPr>
            <a:r>
              <a:rPr lang="en-US" sz="2499" b="1" spc="34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5 MIN.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77389" flipV="1">
            <a:off x="-4715913" y="-2046407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6686390" flipV="1">
            <a:off x="10632895" y="348235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4" name="Group 4"/>
          <p:cNvGrpSpPr/>
          <p:nvPr/>
        </p:nvGrpSpPr>
        <p:grpSpPr>
          <a:xfrm>
            <a:off x="1298002" y="2681838"/>
            <a:ext cx="14815463" cy="6007587"/>
            <a:chOff x="0" y="0"/>
            <a:chExt cx="3902015" cy="15822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02015" cy="1582245"/>
            </a:xfrm>
            <a:custGeom>
              <a:avLst/>
              <a:gdLst/>
              <a:ahLst/>
              <a:cxnLst/>
              <a:rect l="l" t="t" r="r" b="b"/>
              <a:pathLst>
                <a:path w="3902015" h="1582245">
                  <a:moveTo>
                    <a:pt x="0" y="0"/>
                  </a:moveTo>
                  <a:lnTo>
                    <a:pt x="3902015" y="0"/>
                  </a:lnTo>
                  <a:lnTo>
                    <a:pt x="3902015" y="1582245"/>
                  </a:lnTo>
                  <a:lnTo>
                    <a:pt x="0" y="1582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902015" cy="1601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8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rot="5400442">
            <a:off x="6927736" y="5530740"/>
            <a:ext cx="4432527" cy="0"/>
          </a:xfrm>
          <a:prstGeom prst="line">
            <a:avLst/>
          </a:prstGeom>
          <a:ln w="47625" cap="flat">
            <a:solidFill>
              <a:srgbClr val="EEED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Box 8"/>
          <p:cNvSpPr txBox="1"/>
          <p:nvPr/>
        </p:nvSpPr>
        <p:spPr>
          <a:xfrm>
            <a:off x="4556635" y="5404299"/>
            <a:ext cx="4665641" cy="53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07671" y="5399904"/>
            <a:ext cx="4930931" cy="542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40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66750"/>
            <a:ext cx="16230600" cy="10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DIVIDIMOS EN EQUIPOS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0" y="2596113"/>
            <a:ext cx="18287430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¿QUE PROBLEMAS PUEDE GENERAR UN REGISTRO DE JORNADA MAL ADMINISTRADO?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8393" y="8279496"/>
            <a:ext cx="16230600" cy="10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EVALUACIÓN FINAL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750880" flipV="1">
            <a:off x="-375912" y="3774383"/>
            <a:ext cx="20682096" cy="15643185"/>
          </a:xfrm>
          <a:custGeom>
            <a:avLst/>
            <a:gdLst/>
            <a:ahLst/>
            <a:cxnLst/>
            <a:rect l="l" t="t" r="r" b="b"/>
            <a:pathLst>
              <a:path w="20682096" h="15643185">
                <a:moveTo>
                  <a:pt x="0" y="15643185"/>
                </a:moveTo>
                <a:lnTo>
                  <a:pt x="20682096" y="15643185"/>
                </a:lnTo>
                <a:lnTo>
                  <a:pt x="20682096" y="0"/>
                </a:lnTo>
                <a:lnTo>
                  <a:pt x="0" y="0"/>
                </a:lnTo>
                <a:lnTo>
                  <a:pt x="0" y="1564318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251827" y="2258873"/>
            <a:ext cx="3748335" cy="7416725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93117" r="-93117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3946817" y="238419"/>
            <a:ext cx="3748335" cy="7416725"/>
            <a:chOff x="0" y="0"/>
            <a:chExt cx="2620010" cy="5184140"/>
          </a:xfrm>
        </p:grpSpPr>
        <p:sp>
          <p:nvSpPr>
            <p:cNvPr id="14" name="Freeform 1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12476" r="-112476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4341442" y="2581569"/>
            <a:ext cx="3748335" cy="7416725"/>
            <a:chOff x="0" y="0"/>
            <a:chExt cx="2620010" cy="5184140"/>
          </a:xfrm>
        </p:grpSpPr>
        <p:sp>
          <p:nvSpPr>
            <p:cNvPr id="24" name="Freeform 2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86505" r="-86505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-57463" y="339090"/>
            <a:ext cx="3748335" cy="7416725"/>
            <a:chOff x="0" y="0"/>
            <a:chExt cx="2620010" cy="5184140"/>
          </a:xfrm>
        </p:grpSpPr>
        <p:sp>
          <p:nvSpPr>
            <p:cNvPr id="34" name="Freeform 3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94468" r="-94468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28700" y="-352425"/>
            <a:ext cx="16230600" cy="103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b="1" spc="386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¿DUDAS?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910181" y="831252"/>
            <a:ext cx="713176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CONCLUSIÓN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0" y="1618578"/>
            <a:ext cx="3633410" cy="47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¿SE CUMPLIÓ EL OBJETIVO DEL CURSO?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31955" y="3601840"/>
            <a:ext cx="3117436" cy="47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¿EL CONTENIDO ERA LO QUE ESPERABAN?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76062" y="2714625"/>
            <a:ext cx="3333702" cy="596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1"/>
              </a:lnSpc>
              <a:spcBef>
                <a:spcPct val="0"/>
              </a:spcBef>
            </a:pPr>
            <a:r>
              <a:rPr lang="en-US" sz="4208" b="1" spc="361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QUE PIENSA AHORA DE LA REFORMA, LE AFECTA O BENEFICIA?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166619" y="1370857"/>
            <a:ext cx="3512334" cy="47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¿AQUE SE COMPROMENTEN DESPUÉS DE ESTE CURSO?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686390" flipV="1">
            <a:off x="12355653" y="4827383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3"/>
                </a:moveTo>
                <a:lnTo>
                  <a:pt x="11864694" y="8974023"/>
                </a:lnTo>
                <a:lnTo>
                  <a:pt x="11864694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3777389" flipV="1">
            <a:off x="-6628433" y="-3687861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4965695" y="1706880"/>
            <a:ext cx="8469647" cy="628517"/>
          </a:xfrm>
          <a:custGeom>
            <a:avLst/>
            <a:gdLst/>
            <a:ahLst/>
            <a:cxnLst/>
            <a:rect l="l" t="t" r="r" b="b"/>
            <a:pathLst>
              <a:path w="8469647" h="628517">
                <a:moveTo>
                  <a:pt x="0" y="0"/>
                </a:moveTo>
                <a:lnTo>
                  <a:pt x="8469647" y="0"/>
                </a:lnTo>
                <a:lnTo>
                  <a:pt x="8469647" y="628517"/>
                </a:lnTo>
                <a:lnTo>
                  <a:pt x="0" y="628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1028700" y="666750"/>
            <a:ext cx="16230600" cy="10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CIERRE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3234" y="4082415"/>
            <a:ext cx="8030766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ME LLEVO: ¿QUÉ APRENDÍ?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46511" y="2825115"/>
            <a:ext cx="1541278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LA PRINCIPAL IDEA QUE ME LLEVO DEL CURSO ES….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7200" y="5977864"/>
            <a:ext cx="1166113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APLICO: ¿DÓNDE PUEDO UTILIZARLO?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7200" y="7686675"/>
            <a:ext cx="16230600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ME COMPROMETO: ¿QUÉ ACCION COCRETA REALIZARÉ DESPUES DE ESTA CAPACITACIÓN?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-5065956" y="-1570060"/>
            <a:ext cx="14817002" cy="11207042"/>
          </a:xfrm>
          <a:custGeom>
            <a:avLst/>
            <a:gdLst/>
            <a:ahLst/>
            <a:cxnLst/>
            <a:rect l="l" t="t" r="r" b="b"/>
            <a:pathLst>
              <a:path w="14817002" h="11207042">
                <a:moveTo>
                  <a:pt x="0" y="0"/>
                </a:moveTo>
                <a:lnTo>
                  <a:pt x="14817002" y="0"/>
                </a:lnTo>
                <a:lnTo>
                  <a:pt x="14817002" y="11207041"/>
                </a:lnTo>
                <a:lnTo>
                  <a:pt x="0" y="11207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2593267" y="9331729"/>
            <a:ext cx="4811235" cy="354637"/>
            <a:chOff x="0" y="0"/>
            <a:chExt cx="1267156" cy="934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7156" cy="93402"/>
            </a:xfrm>
            <a:custGeom>
              <a:avLst/>
              <a:gdLst/>
              <a:ahLst/>
              <a:cxnLst/>
              <a:rect l="l" t="t" r="r" b="b"/>
              <a:pathLst>
                <a:path w="1267156" h="93402">
                  <a:moveTo>
                    <a:pt x="633578" y="0"/>
                  </a:moveTo>
                  <a:cubicBezTo>
                    <a:pt x="283663" y="0"/>
                    <a:pt x="0" y="20909"/>
                    <a:pt x="0" y="46701"/>
                  </a:cubicBezTo>
                  <a:cubicBezTo>
                    <a:pt x="0" y="72493"/>
                    <a:pt x="283663" y="93402"/>
                    <a:pt x="633578" y="93402"/>
                  </a:cubicBezTo>
                  <a:cubicBezTo>
                    <a:pt x="983494" y="93402"/>
                    <a:pt x="1267156" y="72493"/>
                    <a:pt x="1267156" y="46701"/>
                  </a:cubicBezTo>
                  <a:cubicBezTo>
                    <a:pt x="1267156" y="20909"/>
                    <a:pt x="983494" y="0"/>
                    <a:pt x="633578" y="0"/>
                  </a:cubicBezTo>
                  <a:close/>
                </a:path>
              </a:pathLst>
            </a:custGeom>
            <a:solidFill>
              <a:srgbClr val="000000">
                <a:alpha val="22745"/>
              </a:srgbClr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8796" y="-29344"/>
              <a:ext cx="1029565" cy="113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2593267" y="777953"/>
            <a:ext cx="4412604" cy="8731095"/>
            <a:chOff x="0" y="0"/>
            <a:chExt cx="2620010" cy="5184140"/>
          </a:xfrm>
        </p:grpSpPr>
        <p:sp>
          <p:nvSpPr>
            <p:cNvPr id="7" name="Freeform 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112476" r="-112476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2368930" y="975944"/>
            <a:ext cx="1190000" cy="1190000"/>
          </a:xfrm>
          <a:custGeom>
            <a:avLst/>
            <a:gdLst/>
            <a:ahLst/>
            <a:cxnLst/>
            <a:rect l="l" t="t" r="r" b="b"/>
            <a:pathLst>
              <a:path w="1190000" h="1190000">
                <a:moveTo>
                  <a:pt x="0" y="0"/>
                </a:moveTo>
                <a:lnTo>
                  <a:pt x="1190001" y="0"/>
                </a:lnTo>
                <a:lnTo>
                  <a:pt x="1190001" y="1190001"/>
                </a:lnTo>
                <a:lnTo>
                  <a:pt x="0" y="11900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TextBox 17"/>
          <p:cNvSpPr txBox="1"/>
          <p:nvPr/>
        </p:nvSpPr>
        <p:spPr>
          <a:xfrm>
            <a:off x="7934979" y="4147761"/>
            <a:ext cx="10353021" cy="3148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90"/>
              </a:lnSpc>
            </a:pPr>
            <a:r>
              <a:rPr lang="en-US" sz="11275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ENCUESTA DE SATISFACCIÓN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01121" flipV="1">
            <a:off x="-3886095" y="380121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1946506" flipV="1">
            <a:off x="10435068" y="-3458311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3412668" y="4653861"/>
            <a:ext cx="11462665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9000" spc="773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GRACIAS</a:t>
            </a:r>
          </a:p>
        </p:txBody>
      </p:sp>
      <p:sp>
        <p:nvSpPr>
          <p:cNvPr id="5" name="Freeform 5"/>
          <p:cNvSpPr/>
          <p:nvPr/>
        </p:nvSpPr>
        <p:spPr>
          <a:xfrm>
            <a:off x="15024222" y="8887419"/>
            <a:ext cx="741761" cy="741761"/>
          </a:xfrm>
          <a:custGeom>
            <a:avLst/>
            <a:gdLst/>
            <a:ahLst/>
            <a:cxnLst/>
            <a:rect l="l" t="t" r="r" b="b"/>
            <a:pathLst>
              <a:path w="741761" h="741761">
                <a:moveTo>
                  <a:pt x="0" y="0"/>
                </a:moveTo>
                <a:lnTo>
                  <a:pt x="741762" y="0"/>
                </a:lnTo>
                <a:lnTo>
                  <a:pt x="741762" y="741762"/>
                </a:lnTo>
                <a:lnTo>
                  <a:pt x="0" y="7417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15871029" y="8910102"/>
            <a:ext cx="2140399" cy="760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sz="3165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ELIZABETH CASTILLO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583</Words>
  <Application>Microsoft Office PowerPoint</Application>
  <PresentationFormat>Personalizado</PresentationFormat>
  <Paragraphs>96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8" baseType="lpstr">
      <vt:lpstr>TT Chocolates Ultra-Bold</vt:lpstr>
      <vt:lpstr>Montserrat Ultra-Bold</vt:lpstr>
      <vt:lpstr>TT Chocolates Bold</vt:lpstr>
      <vt:lpstr>TT Chocolates</vt:lpstr>
      <vt:lpstr>Montserrat</vt:lpstr>
      <vt:lpstr>Arial</vt:lpstr>
      <vt:lpstr>Now Bold</vt:lpstr>
      <vt:lpstr>Montserrat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Registro electrónico de jornada laboral</dc:title>
  <cp:lastModifiedBy>Elizabeth Castillo Yañez</cp:lastModifiedBy>
  <cp:revision>3</cp:revision>
  <dcterms:created xsi:type="dcterms:W3CDTF">2006-08-16T00:00:00Z</dcterms:created>
  <dcterms:modified xsi:type="dcterms:W3CDTF">2026-08-29T02:55:46Z</dcterms:modified>
  <dc:identifier>DAHTl8pGIg0</dc:identifier>
</cp:coreProperties>
</file>